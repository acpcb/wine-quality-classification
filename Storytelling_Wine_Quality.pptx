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E8B49"/>
                </a:solidFill>
                <a:latin typeface="Aptos"/>
              </a:rPr>
              <a:t>Tech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741837"/>
                </a:solidFill>
                <a:latin typeface="Aptos"/>
              </a:rPr>
              <a:t>Classificação da qualidade de vinhos com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72026"/>
                </a:solidFill>
                <a:latin typeface="Aptos"/>
              </a:rPr>
              <a:t>Pipeline completa: EDA, pré-processamento, modelagem, avaliação e interpretação dos resultados</a:t>
            </a:r>
          </a:p>
        </p:txBody>
      </p:sp>
      <p:pic>
        <p:nvPicPr>
          <p:cNvPr id="5" name="Picture 4" descr="04_boxplots_variaveis_ch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731520"/>
            <a:ext cx="3657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80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A5A"/>
                </a:solidFill>
                <a:latin typeface="Aptos"/>
              </a:rPr>
              <a:t>Pós-Tech • Fase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Como apoiar a avaliação de qualidade antes da análise sensorial final?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Avaliação tradicional depende de especialistas e pode ser subjetiva.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Objetivo: prever vinhos de alta qualidade usando variáveis físico-químicas.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Classificação binária: nota ≥ 7 = Alta qualidade; nota &lt; 7 = Baixa/Média.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Uso esperado: triagem e apoio à decisão, não substituição do enólogo.</a:t>
            </a:r>
          </a:p>
        </p:txBody>
      </p:sp>
      <p:pic>
        <p:nvPicPr>
          <p:cNvPr id="5" name="Picture 4" descr="02_distribuicao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Dataset e variável-alvo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WineQT com características físico-químicas e nota atribuída ao vinho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5331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Amostras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1848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1143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35331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Features usadas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61848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3444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35331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Alta 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1848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13.91%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234440"/>
            <a:ext cx="2926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353312"/>
            <a:ext cx="2706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Modelo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1618488"/>
            <a:ext cx="2706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Random Forest</a:t>
            </a:r>
          </a:p>
        </p:txBody>
      </p:sp>
      <p:pic>
        <p:nvPicPr>
          <p:cNvPr id="16" name="Picture 15" descr="01_balanceamento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0"/>
            <a:ext cx="4846320" cy="3200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29718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A classe positiva é minoritária.</a:t>
            </a:r>
          </a:p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Por isso, a acurácia não é suficiente.</a:t>
            </a:r>
          </a:p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As métricas principais foram ROC AUC, F1, recall e precision.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Principais achados da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Distribuições, correlações e diferenças entre classes</a:t>
            </a:r>
          </a:p>
        </p:txBody>
      </p:sp>
      <p:pic>
        <p:nvPicPr>
          <p:cNvPr id="4" name="Picture 3" descr="05_matriz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074920" cy="5212080"/>
          </a:xfrm>
          <a:prstGeom prst="rect">
            <a:avLst/>
          </a:prstGeom>
        </p:spPr>
      </p:pic>
      <p:pic>
        <p:nvPicPr>
          <p:cNvPr id="5" name="Picture 4" descr="04_boxplots_variaveis_ch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25780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63640" y="41605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72026"/>
                </a:solidFill>
                <a:latin typeface="Aptos"/>
              </a:defRPr>
            </a:pPr>
            <a:r>
              <a:t>Álcool tende a ser maior nos vinhos de alta qualidade.</a:t>
            </a:r>
          </a:p>
          <a:p>
            <a:pPr>
              <a:defRPr sz="1700">
                <a:solidFill>
                  <a:srgbClr val="372026"/>
                </a:solidFill>
                <a:latin typeface="Aptos"/>
              </a:defRPr>
            </a:pPr>
            <a:r>
              <a:t>Acidez volátil tende a ser menor em vinhos melhores.</a:t>
            </a:r>
          </a:p>
          <a:p>
            <a:pPr>
              <a:defRPr sz="1700">
                <a:solidFill>
                  <a:srgbClr val="372026"/>
                </a:solidFill>
                <a:latin typeface="Aptos"/>
              </a:defRPr>
            </a:pPr>
            <a:r>
              <a:t>Sulfatos e densidade aparecem como sinais relevantes.</a:t>
            </a:r>
          </a:p>
          <a:p>
            <a:pPr>
              <a:defRPr sz="1700">
                <a:solidFill>
                  <a:srgbClr val="372026"/>
                </a:solidFill>
                <a:latin typeface="Aptos"/>
              </a:defRPr>
            </a:pPr>
            <a:r>
              <a:t>Possíveis outliers foram mantidos para preservar informação real do processo.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Estratégia de modelagem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Comparação entre modelos simples, interpretáveis e robustos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Remoção de `Id` e prevenção de vazamento da coluna `quality`.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Feature engineering: razões químicas e enxofre combinado.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Divisão treino/teste estratificada.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Validação cruzada com ROC AUC.</a:t>
            </a:r>
          </a:p>
          <a:p>
            <a:pPr>
              <a:defRPr sz="2000">
                <a:solidFill>
                  <a:srgbClr val="372026"/>
                </a:solidFill>
                <a:latin typeface="Aptos"/>
              </a:defRPr>
            </a:pPr>
            <a:r>
              <a:t>Modelos: Baseline, Regressão Logística e Random Forest.</a:t>
            </a:r>
          </a:p>
        </p:txBody>
      </p:sp>
      <p:pic>
        <p:nvPicPr>
          <p:cNvPr id="5" name="Picture 4" descr="03_histogramas_varia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49834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Resultados dos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Random Forest apresentou a melhor capacidade de separação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2618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ROC 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2704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0.911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5808" y="12618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52704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0.917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368" y="12618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52704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0.842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4927" y="12618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152704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0.500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4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1261872"/>
            <a:ext cx="183794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Aptos"/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9488" y="1527048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41837"/>
                </a:solidFill>
                <a:latin typeface="Aptos"/>
              </a:rPr>
              <a:t>0.627</a:t>
            </a:r>
          </a:p>
        </p:txBody>
      </p:sp>
      <p:pic>
        <p:nvPicPr>
          <p:cNvPr id="19" name="Picture 18" descr="06_comparacao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5074920" cy="3474720"/>
          </a:xfrm>
          <a:prstGeom prst="rect">
            <a:avLst/>
          </a:prstGeom>
        </p:spPr>
      </p:pic>
      <p:pic>
        <p:nvPicPr>
          <p:cNvPr id="20" name="Picture 19" descr="08_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23160"/>
            <a:ext cx="457200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Interpretação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Variáveis mais relevantes para prever alta qualidade</a:t>
            </a:r>
          </a:p>
        </p:txBody>
      </p:sp>
      <p:pic>
        <p:nvPicPr>
          <p:cNvPr id="4" name="Picture 3" descr="10_importancia_variave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521208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741837"/>
                </a:solidFill>
                <a:latin typeface="Aptos"/>
              </a:rPr>
              <a:t>Top 5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72026"/>
                </a:solidFill>
                <a:latin typeface="Aptos"/>
              </a:rPr>
              <a:t>• alcohol</a:t>
            </a:r>
            <a:br/>
            <a:r>
              <a:t>• alcohol_density_ratio</a:t>
            </a:r>
            <a:br/>
            <a:r>
              <a:t>• sulphates</a:t>
            </a:r>
            <a:br/>
            <a:r>
              <a:t>• total sulfur dioxide</a:t>
            </a:r>
            <a:br/>
            <a:r>
              <a:t>• acidity_ratio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862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72026"/>
                </a:solidFill>
                <a:latin typeface="Aptos"/>
              </a:defRPr>
            </a:pPr>
            <a:r>
              <a:t>A interpretação sugere influência de álcool, sulfatos, acidez e relações físico-químicas.</a:t>
            </a:r>
          </a:p>
          <a:p>
            <a:pPr>
              <a:defRPr sz="1800">
                <a:solidFill>
                  <a:srgbClr val="372026"/>
                </a:solidFill>
                <a:latin typeface="Aptos"/>
              </a:defRPr>
            </a:pPr>
            <a:r>
              <a:t>Os resultados indicam associação estatística, não causalidade.</a:t>
            </a:r>
          </a:p>
          <a:p>
            <a:pPr>
              <a:defRPr sz="1800">
                <a:solidFill>
                  <a:srgbClr val="372026"/>
                </a:solidFill>
                <a:latin typeface="Aptos"/>
              </a:defRPr>
            </a:pPr>
            <a:r>
              <a:t>Mudanças de processo devem ser validadas por especialistas e testes controlados.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741837"/>
                </a:solidFill>
                <a:latin typeface="Aptos"/>
              </a:rPr>
              <a:t>Conclusão executiva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  <a:latin typeface="Aptos"/>
              </a:rPr>
              <a:t>Machine Learning como apoio ao controle de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O modelo pode ajudar a priorizar amostras com maior potencial de qualidade.</a:t>
            </a:r>
          </a:p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A triagem reduz subjetividade e apoia decisões mais rápidas.</a:t>
            </a:r>
          </a:p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A baixa proporção de vinhos de alta qualidade exige atenção às métricas de classe positiva.</a:t>
            </a:r>
          </a:p>
          <a:p>
            <a:pPr>
              <a:defRPr sz="2100">
                <a:solidFill>
                  <a:srgbClr val="372026"/>
                </a:solidFill>
                <a:latin typeface="Aptos"/>
              </a:defRPr>
            </a:pPr>
            <a:r>
              <a:t>Próximos passos: coletar mais amostras, validar com novos lotes e ajustar o limiar de decisão.</a:t>
            </a:r>
          </a:p>
        </p:txBody>
      </p:sp>
      <p:pic>
        <p:nvPicPr>
          <p:cNvPr id="5" name="Picture 4" descr="09_curva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43000"/>
            <a:ext cx="438912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897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41837"/>
                </a:solidFill>
                <a:latin typeface="Aptos"/>
              </a:rPr>
              <a:t>Mensagem final: o modelo não substitui especialistas; ele transforma dados físico-químicos em evidência para decisão.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